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QRadar EPS</c:v>
                </c:pt>
              </c:strCache>
            </c:strRef>
          </c:tx>
          <c:spPr>
            <a:solidFill>
              <a:srgbClr val="E84A62"/>
            </a:solidFill>
          </c:spPr>
          <c:cat>
            <c:strRef>
              <c:f>Sheet1!$A$2:$A$3</c:f>
              <c:strCache>
                <c:ptCount val="2"/>
                <c:pt idx="0">
                  <c:v>Before filter</c:v>
                </c:pt>
                <c:pt idx="1">
                  <c:v>After filter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15000</c:v>
                </c:pt>
                <c:pt idx="1">
                  <c:v>3150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40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dPt>
            <c:idx val="0"/>
            <c:spPr>
              <a:solidFill>
                <a:srgbClr val="E84A62"/>
              </a:solidFill>
            </c:spPr>
          </c:dPt>
          <c:dPt>
            <c:idx val="1"/>
            <c:spPr>
              <a:solidFill>
                <a:srgbClr val="4E76B2"/>
              </a:solidFill>
            </c:spPr>
          </c:dPt>
          <c:dPt>
            <c:idx val="2"/>
            <c:spPr>
              <a:solidFill>
                <a:srgbClr val="2F9267"/>
              </a:solidFill>
            </c:spPr>
          </c:dPt>
          <c:cat>
            <c:strRef>
              <c:f>Sheet1!$A$2:$A$4</c:f>
              <c:strCache>
                <c:ptCount val="3"/>
                <c:pt idx="0">
                  <c:v>Rule-based</c:v>
                </c:pt>
                <c:pt idx="1">
                  <c:v>TF-IDF + XGBoost</c:v>
                </c:pt>
                <c:pt idx="2">
                  <c:v>Anomaly detector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45</c:v>
                </c:pt>
                <c:pt idx="2">
                  <c:v>25</c:v>
                </c:pt>
              </c:numCache>
            </c:numRef>
          </c:val>
        </c:ser>
        <c:dLbls>
          <c:numFmt formatCode="0%" sourceLinked="0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spPr>
            <a:solidFill>
              <a:srgbClr val="4E76B2"/>
            </a:solidFill>
          </c:spPr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Critical Recall</c:v>
                </c:pt>
                <c:pt idx="2">
                  <c:v>Critical Precision</c:v>
                </c:pt>
                <c:pt idx="3">
                  <c:v>F1 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94.2</c:v>
                </c:pt>
                <c:pt idx="1">
                  <c:v>99.7</c:v>
                </c:pt>
                <c:pt idx="2">
                  <c:v>93.4</c:v>
                </c:pt>
                <c:pt idx="3">
                  <c:v>93.6</c:v>
                </c:pt>
              </c:numCache>
            </c:numRef>
          </c:val>
        </c:ser>
        <c:dLbls>
          <c:numFmt formatCode="0.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16736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75104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33472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50207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08575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66943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25311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42047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00415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33888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92256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850624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633472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608575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266943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925311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692640" y="-1097280"/>
            <a:ext cx="4389120" cy="4389120"/>
          </a:xfrm>
          <a:prstGeom prst="ellipse">
            <a:avLst/>
          </a:prstGeom>
          <a:solidFill>
            <a:srgbClr val="EF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evron 33"/>
          <p:cNvSpPr/>
          <p:nvPr/>
        </p:nvSpPr>
        <p:spPr>
          <a:xfrm>
            <a:off x="-182880" y="5394960"/>
            <a:ext cx="3840480" cy="1554480"/>
          </a:xfrm>
          <a:prstGeom prst="chevron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94360" y="320040"/>
            <a:ext cx="2331720" cy="457200"/>
          </a:xfrm>
          <a:prstGeom prst="roundRect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EXECUTIVE BRIEF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841248"/>
            <a:ext cx="10789920" cy="7772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F0ECF6"/>
                </a:solidFill>
                <a:latin typeface="Aptos Display"/>
              </a:defRPr>
            </a:pPr>
            <a:r>
              <a:t>AI-Driven Log Filtering for SIEM Efficiency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1783080"/>
            <a:ext cx="987552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0ECF6"/>
                </a:solidFill>
                <a:latin typeface="Aptos"/>
              </a:defRPr>
            </a:pPr>
            <a:r>
              <a:t>Executive ROI Review | IBM QRadar Focus | February 2026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" y="3986783"/>
            <a:ext cx="3566160" cy="1417320"/>
          </a:xfrm>
          <a:prstGeom prst="roundRect">
            <a:avLst/>
          </a:prstGeom>
          <a:solidFill>
            <a:srgbClr val="C0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85800" y="3931920"/>
            <a:ext cx="35661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9536C"/>
                </a:solidFill>
                <a:latin typeface="Aptos"/>
              </a:defRPr>
            </a:pPr>
            <a:r>
              <a:t>SIEM Volume</a:t>
            </a:r>
          </a:p>
          <a:p>
            <a:pPr algn="ctr">
              <a:defRPr sz="2200" b="1">
                <a:solidFill>
                  <a:srgbClr val="E84A62"/>
                </a:solidFill>
                <a:latin typeface="Aptos Display"/>
              </a:defRPr>
            </a:pPr>
            <a:r>
              <a:t>40-60%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81144" y="3986783"/>
            <a:ext cx="3566160" cy="1417320"/>
          </a:xfrm>
          <a:prstGeom prst="roundRect">
            <a:avLst/>
          </a:prstGeom>
          <a:solidFill>
            <a:srgbClr val="C0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26280" y="3931920"/>
            <a:ext cx="35661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7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9536C"/>
                </a:solidFill>
                <a:latin typeface="Aptos"/>
              </a:defRPr>
            </a:pPr>
            <a:r>
              <a:t>Critical Recall Target</a:t>
            </a:r>
          </a:p>
          <a:p>
            <a:pPr algn="ctr">
              <a:defRPr sz="2200" b="1">
                <a:solidFill>
                  <a:srgbClr val="4E76B2"/>
                </a:solidFill>
                <a:latin typeface="Aptos Display"/>
              </a:defRPr>
            </a:pPr>
            <a:r>
              <a:t>&gt;99.5%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21624" y="3986783"/>
            <a:ext cx="3063240" cy="1417320"/>
          </a:xfrm>
          <a:prstGeom prst="roundRect">
            <a:avLst/>
          </a:prstGeom>
          <a:solidFill>
            <a:srgbClr val="C0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366760" y="3931920"/>
            <a:ext cx="30632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9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9536C"/>
                </a:solidFill>
                <a:latin typeface="Aptos"/>
              </a:defRPr>
            </a:pPr>
            <a:r>
              <a:t>Safety Mode</a:t>
            </a:r>
          </a:p>
          <a:p>
            <a:pPr algn="ctr">
              <a:defRPr sz="2200" b="1">
                <a:solidFill>
                  <a:srgbClr val="2F9267"/>
                </a:solidFill>
                <a:latin typeface="Aptos Display"/>
              </a:defRPr>
            </a:pPr>
            <a:r>
              <a:t>Fail-open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199632"/>
            <a:ext cx="11155680" cy="4114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C5DB"/>
                </a:solidFill>
                <a:latin typeface="Aptos"/>
              </a:defRPr>
            </a:pPr>
            <a:r>
              <a:t>Source basis: repository benchmark, architecture, tracking, and validation artifacts.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16736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7510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33472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50207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08575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66943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25311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42047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00415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33888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92256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85062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633472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608575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266943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925311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-822960" y="5029200"/>
            <a:ext cx="2743200" cy="2743200"/>
          </a:xfrm>
          <a:prstGeom prst="ellipse">
            <a:avLst/>
          </a:prstGeom>
          <a:solidFill>
            <a:srgbClr val="EF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58400" y="-640080"/>
            <a:ext cx="2926080" cy="2926080"/>
          </a:xfrm>
          <a:prstGeom prst="ellipse">
            <a:avLst/>
          </a:prstGeom>
          <a:solidFill>
            <a:srgbClr val="FA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Triangle 34"/>
          <p:cNvSpPr/>
          <p:nvPr/>
        </p:nvSpPr>
        <p:spPr>
          <a:xfrm>
            <a:off x="8869680" y="5943600"/>
            <a:ext cx="3566160" cy="914400"/>
          </a:xfrm>
          <a:prstGeom prst="rtTriangle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320040"/>
            <a:ext cx="2331720" cy="457200"/>
          </a:xfrm>
          <a:prstGeom prst="roundRect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AT A GLANCE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841248"/>
            <a:ext cx="10789920" cy="7772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222430"/>
                </a:solidFill>
                <a:latin typeface="Aptos Display"/>
              </a:defRPr>
            </a:pPr>
            <a:r>
              <a:t>Executive Snapshot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1600200"/>
            <a:ext cx="6720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C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1874519"/>
            <a:ext cx="6263640" cy="4023360"/>
          </a:xfrm>
          <a:prstGeom prst="rect">
            <a:avLst/>
          </a:prstGeom>
          <a:noFill/>
        </p:spPr>
        <p:txBody>
          <a:bodyPr wrap="square" lIns="76200" rIns="76200" tIns="38100" bIns="38100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22430"/>
                </a:solidFill>
                <a:latin typeface="Aptos"/>
              </a:defRPr>
            </a:pPr>
            <a:r>
              <a:t>AI pre-filtering controls SIEM ingest volume before QRadar licensing thresholds are hit.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22430"/>
                </a:solidFill>
                <a:latin typeface="Aptos"/>
              </a:defRPr>
            </a:pPr>
            <a:r>
              <a:t>Zero-loss safety posture: fail-open fallback + immutable decision audit trail.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22430"/>
                </a:solidFill>
                <a:latin typeface="Aptos"/>
              </a:defRPr>
            </a:pPr>
            <a:r>
              <a:t>January benchmark package exceeds latency, throughput, and critical recall targets.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22430"/>
                </a:solidFill>
                <a:latin typeface="Aptos"/>
              </a:defRPr>
            </a:pPr>
            <a:r>
              <a:t>Financial model indicates six-figure annual savings at enterprise ingest volumes.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90104" y="1655064"/>
            <a:ext cx="1965960" cy="1783080"/>
          </a:xfrm>
          <a:prstGeom prst="roundRect">
            <a:avLst/>
          </a:prstGeom>
          <a:solidFill>
            <a:srgbClr val="C0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635240" y="1600200"/>
            <a:ext cx="1965960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9536C"/>
                </a:solidFill>
                <a:latin typeface="Aptos"/>
              </a:defRPr>
            </a:pPr>
            <a:r>
              <a:t>EPS Reduction</a:t>
            </a:r>
          </a:p>
          <a:p>
            <a:pPr algn="ctr">
              <a:defRPr sz="2200" b="1">
                <a:solidFill>
                  <a:srgbClr val="E84A62"/>
                </a:solidFill>
                <a:latin typeface="Aptos Display"/>
              </a:defRPr>
            </a:pPr>
            <a:r>
              <a:t>79%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20656" y="1655064"/>
            <a:ext cx="1965960" cy="1783080"/>
          </a:xfrm>
          <a:prstGeom prst="roundRect">
            <a:avLst/>
          </a:prstGeom>
          <a:solidFill>
            <a:srgbClr val="C0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765792" y="1600200"/>
            <a:ext cx="1965960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7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9536C"/>
                </a:solidFill>
                <a:latin typeface="Aptos"/>
              </a:defRPr>
            </a:pPr>
            <a:r>
              <a:t>Recall</a:t>
            </a:r>
          </a:p>
          <a:p>
            <a:pPr algn="ctr">
              <a:defRPr sz="2200" b="1">
                <a:solidFill>
                  <a:srgbClr val="4E76B2"/>
                </a:solidFill>
                <a:latin typeface="Aptos Display"/>
              </a:defRPr>
            </a:pPr>
            <a:r>
              <a:t>99.7%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90104" y="3666744"/>
            <a:ext cx="1965960" cy="1783080"/>
          </a:xfrm>
          <a:prstGeom prst="roundRect">
            <a:avLst/>
          </a:prstGeom>
          <a:solidFill>
            <a:srgbClr val="C0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635240" y="3611880"/>
            <a:ext cx="1965960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A7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9536C"/>
                </a:solidFill>
                <a:latin typeface="Aptos"/>
              </a:defRPr>
            </a:pPr>
            <a:r>
              <a:t>P95 Latency</a:t>
            </a:r>
          </a:p>
          <a:p>
            <a:pPr algn="ctr">
              <a:defRPr sz="2200" b="1">
                <a:solidFill>
                  <a:srgbClr val="FA7860"/>
                </a:solidFill>
                <a:latin typeface="Aptos Display"/>
              </a:defRPr>
            </a:pPr>
            <a:r>
              <a:t>42 ms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20656" y="3666744"/>
            <a:ext cx="1965960" cy="1783080"/>
          </a:xfrm>
          <a:prstGeom prst="roundRect">
            <a:avLst/>
          </a:prstGeom>
          <a:solidFill>
            <a:srgbClr val="C0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765792" y="3611880"/>
            <a:ext cx="1965960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9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9536C"/>
                </a:solidFill>
                <a:latin typeface="Aptos"/>
              </a:defRPr>
            </a:pPr>
            <a:r>
              <a:t>Annual Savings</a:t>
            </a:r>
          </a:p>
          <a:p>
            <a:pPr algn="ctr">
              <a:defRPr sz="2200" b="1">
                <a:solidFill>
                  <a:srgbClr val="2F9267"/>
                </a:solidFill>
                <a:latin typeface="Aptos Display"/>
              </a:defRPr>
            </a:pPr>
            <a:r>
              <a:t>$180k-$360k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16736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7510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33472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50207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08575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66943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25311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42047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00415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33888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92256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85062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633472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608575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266943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925311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-822960" y="5029200"/>
            <a:ext cx="2743200" cy="2743200"/>
          </a:xfrm>
          <a:prstGeom prst="ellipse">
            <a:avLst/>
          </a:prstGeom>
          <a:solidFill>
            <a:srgbClr val="EF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58400" y="-640080"/>
            <a:ext cx="2926080" cy="2926080"/>
          </a:xfrm>
          <a:prstGeom prst="ellipse">
            <a:avLst/>
          </a:prstGeom>
          <a:solidFill>
            <a:srgbClr val="FA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Triangle 34"/>
          <p:cNvSpPr/>
          <p:nvPr/>
        </p:nvSpPr>
        <p:spPr>
          <a:xfrm>
            <a:off x="8869680" y="5943600"/>
            <a:ext cx="3566160" cy="914400"/>
          </a:xfrm>
          <a:prstGeom prst="rtTriangle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320040"/>
            <a:ext cx="2331720" cy="457200"/>
          </a:xfrm>
          <a:prstGeom prst="roundRect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BUSINESS CASE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841248"/>
            <a:ext cx="10789920" cy="7772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222430"/>
                </a:solidFill>
                <a:latin typeface="Aptos Display"/>
              </a:defRPr>
            </a:pPr>
            <a:r>
              <a:t>Problem and Opportunity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1755648"/>
            <a:ext cx="5394960" cy="4389120"/>
          </a:xfrm>
          <a:prstGeom prst="rect">
            <a:avLst/>
          </a:prstGeom>
          <a:noFill/>
        </p:spPr>
        <p:txBody>
          <a:bodyPr wrap="square" lIns="76200" rIns="76200" tIns="38100" bIns="38100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22430"/>
                </a:solidFill>
                <a:latin typeface="Aptos"/>
              </a:defRPr>
            </a:pPr>
            <a:r>
              <a:t>Raw SIEM ingestion is expensive and creates analyst overload.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22430"/>
                </a:solidFill>
                <a:latin typeface="Aptos"/>
              </a:defRPr>
            </a:pPr>
            <a:r>
              <a:t>Most logs are routine/noise while critical detections remain sparse.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22430"/>
                </a:solidFill>
                <a:latin typeface="Aptos"/>
              </a:defRPr>
            </a:pPr>
            <a:r>
              <a:t>The system compresses volume while preserving high-severity signal quality.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22430"/>
                </a:solidFill>
                <a:latin typeface="Aptos"/>
              </a:defRPr>
            </a:pPr>
            <a:r>
              <a:t>Benchmark scenario: 15,000 input EPS reduced to 3,150 QRadar EPS.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6126480" y="1783080"/>
          <a:ext cx="539496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6272784" y="5623560"/>
            <a:ext cx="5166360" cy="4572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4A62"/>
                </a:solidFill>
                <a:latin typeface="Aptos"/>
              </a:defRPr>
            </a:pPr>
            <a:r>
              <a:t>Routing volume reduction in benchmark package: 79%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16736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7510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33472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50207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08575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66943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25311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42047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00415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33888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92256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85062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633472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608575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266943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925311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-822960" y="5029200"/>
            <a:ext cx="2743200" cy="2743200"/>
          </a:xfrm>
          <a:prstGeom prst="ellipse">
            <a:avLst/>
          </a:prstGeom>
          <a:solidFill>
            <a:srgbClr val="EF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58400" y="-640080"/>
            <a:ext cx="2926080" cy="2926080"/>
          </a:xfrm>
          <a:prstGeom prst="ellipse">
            <a:avLst/>
          </a:prstGeom>
          <a:solidFill>
            <a:srgbClr val="FA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Triangle 34"/>
          <p:cNvSpPr/>
          <p:nvPr/>
        </p:nvSpPr>
        <p:spPr>
          <a:xfrm>
            <a:off x="8869680" y="5943600"/>
            <a:ext cx="3566160" cy="914400"/>
          </a:xfrm>
          <a:prstGeom prst="rtTriangle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320040"/>
            <a:ext cx="2331720" cy="457200"/>
          </a:xfrm>
          <a:prstGeom prst="roundRect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OPERATING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841248"/>
            <a:ext cx="10789920" cy="7772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222430"/>
                </a:solidFill>
                <a:latin typeface="Aptos Display"/>
              </a:defRPr>
            </a:pPr>
            <a:r>
              <a:t>How the Platform Routes Logs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1792224"/>
            <a:ext cx="2697480" cy="2011680"/>
          </a:xfrm>
          <a:prstGeom prst="roundRect">
            <a:avLst/>
          </a:prstGeom>
          <a:solidFill>
            <a:srgbClr val="C0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8368" y="1737360"/>
            <a:ext cx="26974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9536C"/>
                </a:solidFill>
                <a:latin typeface="Aptos"/>
              </a:defRPr>
            </a:pPr>
            <a:r>
              <a:t>Critical</a:t>
            </a:r>
          </a:p>
          <a:p>
            <a:pPr algn="ctr">
              <a:defRPr sz="2200" b="1">
                <a:solidFill>
                  <a:srgbClr val="E84A62"/>
                </a:solidFill>
                <a:latin typeface="Aptos Display"/>
              </a:defRPr>
            </a:pPr>
            <a:r>
              <a:t>Immediate QRadar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85032" y="1792224"/>
            <a:ext cx="2697480" cy="2011680"/>
          </a:xfrm>
          <a:prstGeom prst="roundRect">
            <a:avLst/>
          </a:prstGeom>
          <a:solidFill>
            <a:srgbClr val="C0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30168" y="1737360"/>
            <a:ext cx="26974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A7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9536C"/>
                </a:solidFill>
                <a:latin typeface="Aptos"/>
              </a:defRPr>
            </a:pPr>
            <a:r>
              <a:t>Suspicious</a:t>
            </a:r>
          </a:p>
          <a:p>
            <a:pPr algn="ctr">
              <a:defRPr sz="2200" b="1">
                <a:solidFill>
                  <a:srgbClr val="FA7860"/>
                </a:solidFill>
                <a:latin typeface="Aptos Display"/>
              </a:defRPr>
            </a:pPr>
            <a:r>
              <a:t>Priority QRadar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56831" y="1792224"/>
            <a:ext cx="2697480" cy="2011680"/>
          </a:xfrm>
          <a:prstGeom prst="roundRect">
            <a:avLst/>
          </a:prstGeom>
          <a:solidFill>
            <a:srgbClr val="C0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601968" y="1737360"/>
            <a:ext cx="26974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7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9536C"/>
                </a:solidFill>
                <a:latin typeface="Aptos"/>
              </a:defRPr>
            </a:pPr>
            <a:r>
              <a:t>Routine</a:t>
            </a:r>
          </a:p>
          <a:p>
            <a:pPr algn="ctr">
              <a:defRPr sz="2200" b="1">
                <a:solidFill>
                  <a:srgbClr val="4E76B2"/>
                </a:solidFill>
                <a:latin typeface="Aptos Display"/>
              </a:defRPr>
            </a:pPr>
            <a:r>
              <a:t>Cold storage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28632" y="1792224"/>
            <a:ext cx="1965960" cy="2011680"/>
          </a:xfrm>
          <a:prstGeom prst="roundRect">
            <a:avLst/>
          </a:prstGeom>
          <a:solidFill>
            <a:srgbClr val="C0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73768" y="1737360"/>
            <a:ext cx="19659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9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9536C"/>
                </a:solidFill>
                <a:latin typeface="Aptos"/>
              </a:defRPr>
            </a:pPr>
            <a:r>
              <a:t>Noise</a:t>
            </a:r>
          </a:p>
          <a:p>
            <a:pPr algn="ctr">
              <a:defRPr sz="2200" b="1">
                <a:solidFill>
                  <a:srgbClr val="2F9267"/>
                </a:solidFill>
                <a:latin typeface="Aptos Display"/>
              </a:defRPr>
            </a:pPr>
            <a:r>
              <a:t>Summary + archive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4251960"/>
            <a:ext cx="10927080" cy="1417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5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22430"/>
                </a:solidFill>
                <a:latin typeface="Aptos"/>
              </a:defRPr>
            </a:pPr>
            <a:r>
              <a:t>Parse (5ms)  -&gt;  Compliance Check (1ms)  -&gt;  Enrich (10ms)  -&gt;  Classify (20ms)  -&gt;  Route (5ms)</a:t>
            </a:r>
          </a:p>
          <a:p>
            <a:pPr algn="ctr">
              <a:defRPr sz="1300">
                <a:solidFill>
                  <a:srgbClr val="59536C"/>
                </a:solidFill>
                <a:latin typeface="Aptos"/>
              </a:defRPr>
            </a:pPr>
            <a:r>
              <a:t>Approximate end-to-end latency: ~50ms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16736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75104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33472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50207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08575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66943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25311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42047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00415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33888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92256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850624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633472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608575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266943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925311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692640" y="-1097280"/>
            <a:ext cx="4389120" cy="4389120"/>
          </a:xfrm>
          <a:prstGeom prst="ellipse">
            <a:avLst/>
          </a:prstGeom>
          <a:solidFill>
            <a:srgbClr val="EF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evron 33"/>
          <p:cNvSpPr/>
          <p:nvPr/>
        </p:nvSpPr>
        <p:spPr>
          <a:xfrm>
            <a:off x="-182880" y="5394960"/>
            <a:ext cx="3840480" cy="1554480"/>
          </a:xfrm>
          <a:prstGeom prst="chevron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94360" y="320040"/>
            <a:ext cx="2331720" cy="457200"/>
          </a:xfrm>
          <a:prstGeom prst="roundRect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RISK CONTROLS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841248"/>
            <a:ext cx="10789920" cy="7772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F0ECF6"/>
                </a:solidFill>
                <a:latin typeface="Aptos Display"/>
              </a:defRPr>
            </a:pPr>
            <a:r>
              <a:t>Safety and Compliance Controls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1600200"/>
            <a:ext cx="5486400" cy="4526280"/>
          </a:xfrm>
          <a:prstGeom prst="roundRect">
            <a:avLst/>
          </a:prstGeom>
          <a:solidFill>
            <a:srgbClr val="342D48"/>
          </a:solidFill>
          <a:ln w="17780">
            <a:solidFill>
              <a:srgbClr val="4E7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1847088"/>
            <a:ext cx="4983480" cy="4572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0ECF6"/>
                </a:solidFill>
                <a:latin typeface="Aptos"/>
              </a:defRPr>
            </a:pPr>
            <a:r>
              <a:t>Core safety guarantees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2240280"/>
            <a:ext cx="4892040" cy="3703320"/>
          </a:xfrm>
          <a:prstGeom prst="rect">
            <a:avLst/>
          </a:prstGeom>
          <a:noFill/>
        </p:spPr>
        <p:txBody>
          <a:bodyPr wrap="square" lIns="76200" rIns="76200" tIns="38100" bIns="38100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600">
                <a:solidFill>
                  <a:srgbClr val="F0ECF6"/>
                </a:solidFill>
                <a:latin typeface="Aptos"/>
              </a:defRPr>
            </a:pPr>
            <a:r>
              <a:t>Fail-open routing on model/system error.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00">
                <a:solidFill>
                  <a:srgbClr val="F0ECF6"/>
                </a:solidFill>
                <a:latin typeface="Aptos"/>
              </a:defRPr>
            </a:pPr>
            <a:r>
              <a:t>Circuit breaker with automated recovery cycle.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00">
                <a:solidFill>
                  <a:srgbClr val="F0ECF6"/>
                </a:solidFill>
                <a:latin typeface="Aptos"/>
              </a:defRPr>
            </a:pPr>
            <a:r>
              <a:t>Timeout caps and graceful degradation mode.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00">
                <a:solidFill>
                  <a:srgbClr val="F0ECF6"/>
                </a:solidFill>
                <a:latin typeface="Aptos"/>
              </a:defRPr>
            </a:pPr>
            <a:r>
              <a:t>Every decision logged for auditability.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00">
                <a:solidFill>
                  <a:srgbClr val="F0ECF6"/>
                </a:solidFill>
                <a:latin typeface="Aptos"/>
              </a:defRPr>
            </a:pPr>
            <a:r>
              <a:t>Cold storage retention preserves forensic evidence.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20" y="1600200"/>
            <a:ext cx="5074920" cy="4526280"/>
          </a:xfrm>
          <a:prstGeom prst="roundRect">
            <a:avLst/>
          </a:prstGeom>
          <a:solidFill>
            <a:srgbClr val="38324E"/>
          </a:solidFill>
          <a:ln w="17780">
            <a:solidFill>
              <a:srgbClr val="2F9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1847088"/>
            <a:ext cx="4572000" cy="4572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0ECF6"/>
                </a:solidFill>
                <a:latin typeface="Aptos"/>
              </a:defRPr>
            </a:pPr>
            <a:r>
              <a:t>Compliance-first bypass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2240280"/>
            <a:ext cx="4572000" cy="3703320"/>
          </a:xfrm>
          <a:prstGeom prst="rect">
            <a:avLst/>
          </a:prstGeom>
          <a:noFill/>
        </p:spPr>
        <p:txBody>
          <a:bodyPr wrap="square" lIns="76200" rIns="76200" tIns="38100" bIns="38100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600">
                <a:solidFill>
                  <a:srgbClr val="F0ECF6"/>
                </a:solidFill>
                <a:latin typeface="Aptos"/>
              </a:defRPr>
            </a:pPr>
            <a:r>
              <a:t>PCI-DSS source patterns bypass AI.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00">
                <a:solidFill>
                  <a:srgbClr val="F0ECF6"/>
                </a:solidFill>
                <a:latin typeface="Aptos"/>
              </a:defRPr>
            </a:pPr>
            <a:r>
              <a:t>HIPAA and EHR records bypass AI.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00">
                <a:solidFill>
                  <a:srgbClr val="F0ECF6"/>
                </a:solidFill>
                <a:latin typeface="Aptos"/>
              </a:defRPr>
            </a:pPr>
            <a:r>
              <a:t>SOX/financial records bypass AI.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00">
                <a:solidFill>
                  <a:srgbClr val="F0ECF6"/>
                </a:solidFill>
                <a:latin typeface="Aptos"/>
              </a:defRPr>
            </a:pPr>
            <a:r>
              <a:t>GDPR-related categories bypass AI.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00">
                <a:solidFill>
                  <a:srgbClr val="F0ECF6"/>
                </a:solidFill>
                <a:latin typeface="Aptos"/>
              </a:defRPr>
            </a:pPr>
            <a:r>
              <a:t>Regulated logs route directly to QRadar.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16736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7510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33472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50207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08575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66943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25311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42047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00415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33888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92256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85062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633472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608575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266943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925311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-822960" y="5029200"/>
            <a:ext cx="2743200" cy="2743200"/>
          </a:xfrm>
          <a:prstGeom prst="ellipse">
            <a:avLst/>
          </a:prstGeom>
          <a:solidFill>
            <a:srgbClr val="EF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58400" y="-640080"/>
            <a:ext cx="2926080" cy="2926080"/>
          </a:xfrm>
          <a:prstGeom prst="ellipse">
            <a:avLst/>
          </a:prstGeom>
          <a:solidFill>
            <a:srgbClr val="FA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Triangle 34"/>
          <p:cNvSpPr/>
          <p:nvPr/>
        </p:nvSpPr>
        <p:spPr>
          <a:xfrm>
            <a:off x="8869680" y="5943600"/>
            <a:ext cx="3566160" cy="914400"/>
          </a:xfrm>
          <a:prstGeom prst="rtTriangle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320040"/>
            <a:ext cx="2331720" cy="457200"/>
          </a:xfrm>
          <a:prstGeom prst="roundRect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TECHNICAL BACKBONE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841248"/>
            <a:ext cx="10789920" cy="7772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222430"/>
                </a:solidFill>
                <a:latin typeface="Aptos Display"/>
              </a:defRPr>
            </a:pPr>
            <a:r>
              <a:t>Architecture and Model Strategy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1737360"/>
            <a:ext cx="6035040" cy="4251960"/>
          </a:xfrm>
          <a:prstGeom prst="rect">
            <a:avLst/>
          </a:prstGeom>
          <a:noFill/>
        </p:spPr>
        <p:txBody>
          <a:bodyPr wrap="square" lIns="76200" rIns="76200" tIns="38100" bIns="38100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22430"/>
                </a:solidFill>
                <a:latin typeface="Aptos"/>
              </a:defRPr>
            </a:pPr>
            <a:r>
              <a:t>Kafka ingestion for raw, classified, and audit streams.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22430"/>
                </a:solidFill>
                <a:latin typeface="Aptos"/>
              </a:defRPr>
            </a:pPr>
            <a:r>
              <a:t>Compliance gate before ML path for regulated events.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22430"/>
                </a:solidFill>
                <a:latin typeface="Aptos"/>
              </a:defRPr>
            </a:pPr>
            <a:r>
              <a:t>Safe ensemble combines rules, TF-IDF/XGBoost, and anomaly detector.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22430"/>
                </a:solidFill>
                <a:latin typeface="Aptos"/>
              </a:defRPr>
            </a:pPr>
            <a:r>
              <a:t>Routing layer forwards by severity and storage policy.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22430"/>
                </a:solidFill>
                <a:latin typeface="Aptos"/>
              </a:defRPr>
            </a:pPr>
            <a:r>
              <a:t>Prometheus + Grafana provide operational and quality visibility.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6583680" y="1691640"/>
          <a:ext cx="47548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6583680" y="5650992"/>
            <a:ext cx="480060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9536C"/>
                </a:solidFill>
                <a:latin typeface="Aptos"/>
              </a:defRPr>
            </a:pPr>
            <a:r>
              <a:t>Optional ONNX path documented with major inference and size gains.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16736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7510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33472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50207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08575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66943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25311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42047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00415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33888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92256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85062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633472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608575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266943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925311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-822960" y="5029200"/>
            <a:ext cx="2743200" cy="2743200"/>
          </a:xfrm>
          <a:prstGeom prst="ellipse">
            <a:avLst/>
          </a:prstGeom>
          <a:solidFill>
            <a:srgbClr val="EF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58400" y="-640080"/>
            <a:ext cx="2926080" cy="2926080"/>
          </a:xfrm>
          <a:prstGeom prst="ellipse">
            <a:avLst/>
          </a:prstGeom>
          <a:solidFill>
            <a:srgbClr val="FA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Triangle 34"/>
          <p:cNvSpPr/>
          <p:nvPr/>
        </p:nvSpPr>
        <p:spPr>
          <a:xfrm>
            <a:off x="8869680" y="5943600"/>
            <a:ext cx="3566160" cy="914400"/>
          </a:xfrm>
          <a:prstGeom prst="rtTriangle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320040"/>
            <a:ext cx="2331720" cy="457200"/>
          </a:xfrm>
          <a:prstGeom prst="roundRect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841248"/>
            <a:ext cx="10789920" cy="7772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222430"/>
                </a:solidFill>
                <a:latin typeface="Aptos Display"/>
              </a:defRPr>
            </a:pPr>
            <a:r>
              <a:t>Performance Evidence Against Targets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768096" y="1783080"/>
          <a:ext cx="10012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2194560"/>
                <a:gridCol w="2194560"/>
                <a:gridCol w="173736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E84A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E84A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Achieved</a:t>
                      </a:r>
                    </a:p>
                  </a:txBody>
                  <a:tcPr>
                    <a:solidFill>
                      <a:srgbClr val="E84A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E84A6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Peak 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12,847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Exceeded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Sustained EPS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8,000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9,234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Exceeded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P95 classification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&lt;100ms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42ms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End-to-end latency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&lt;200ms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89ms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AF7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Kafka round-trip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&lt;50ms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23ms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2430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68096" y="5669280"/>
            <a:ext cx="1092708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F9267"/>
                </a:solidFill>
                <a:latin typeface="Aptos"/>
              </a:defRPr>
            </a:pPr>
            <a:r>
              <a:t>January benchmark package demonstrates measurable headroom against operating targets.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16736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7510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33472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50207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08575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66943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25311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42047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00415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33888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92256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85062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633472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608575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266943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925311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-822960" y="5029200"/>
            <a:ext cx="2743200" cy="2743200"/>
          </a:xfrm>
          <a:prstGeom prst="ellipse">
            <a:avLst/>
          </a:prstGeom>
          <a:solidFill>
            <a:srgbClr val="EF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58400" y="-640080"/>
            <a:ext cx="2926080" cy="2926080"/>
          </a:xfrm>
          <a:prstGeom prst="ellipse">
            <a:avLst/>
          </a:prstGeom>
          <a:solidFill>
            <a:srgbClr val="FA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Triangle 34"/>
          <p:cNvSpPr/>
          <p:nvPr/>
        </p:nvSpPr>
        <p:spPr>
          <a:xfrm>
            <a:off x="8869680" y="5943600"/>
            <a:ext cx="3566160" cy="914400"/>
          </a:xfrm>
          <a:prstGeom prst="rtTriangle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320040"/>
            <a:ext cx="2331720" cy="457200"/>
          </a:xfrm>
          <a:prstGeom prst="roundRect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MODEL 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841248"/>
            <a:ext cx="10789920" cy="7772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222430"/>
                </a:solidFill>
                <a:latin typeface="Aptos Display"/>
              </a:defRPr>
            </a:pPr>
            <a:r>
              <a:t>Detection Quality Evidence</a:t>
            </a:r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822960" y="1783080"/>
          <a:ext cx="5943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9" name="Rounded Rectangle 38"/>
          <p:cNvSpPr/>
          <p:nvPr/>
        </p:nvSpPr>
        <p:spPr>
          <a:xfrm>
            <a:off x="6903720" y="1783080"/>
            <a:ext cx="46177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6C6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50608" y="2011680"/>
            <a:ext cx="4160520" cy="3474720"/>
          </a:xfrm>
          <a:prstGeom prst="rect">
            <a:avLst/>
          </a:prstGeom>
          <a:noFill/>
        </p:spPr>
        <p:txBody>
          <a:bodyPr wrap="square" lIns="76200" rIns="76200" tIns="38100" bIns="38100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222430"/>
                </a:solidFill>
                <a:latin typeface="Aptos"/>
              </a:defRPr>
            </a:pPr>
            <a:r>
              <a:t>Critical recall benchmark result: 99.7% (target &gt;99.5%).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222430"/>
                </a:solidFill>
                <a:latin typeface="Aptos"/>
              </a:defRPr>
            </a:pPr>
            <a:r>
              <a:t>Critical precision benchmark result: 93.4%.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222430"/>
                </a:solidFill>
                <a:latin typeface="Aptos"/>
              </a:defRPr>
            </a:pPr>
            <a:r>
              <a:t>False negatives tightly controlled in January evidence package.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222430"/>
                </a:solidFill>
                <a:latin typeface="Aptos"/>
              </a:defRPr>
            </a:pPr>
            <a:r>
              <a:t>Model artifact checks: 11/11 passed in validation summary.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222430"/>
                </a:solidFill>
                <a:latin typeface="Aptos"/>
              </a:defRPr>
            </a:pPr>
            <a:r>
              <a:t>129-test suite supports release confidence.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16736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75104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33472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50207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08575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66943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25311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42047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00415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33888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92256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850624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633472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608575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266943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925311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692640" y="-1097280"/>
            <a:ext cx="4389120" cy="4389120"/>
          </a:xfrm>
          <a:prstGeom prst="ellipse">
            <a:avLst/>
          </a:prstGeom>
          <a:solidFill>
            <a:srgbClr val="EF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evron 33"/>
          <p:cNvSpPr/>
          <p:nvPr/>
        </p:nvSpPr>
        <p:spPr>
          <a:xfrm>
            <a:off x="-182880" y="5394960"/>
            <a:ext cx="3840480" cy="1554480"/>
          </a:xfrm>
          <a:prstGeom prst="chevron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94360" y="320040"/>
            <a:ext cx="2331720" cy="457200"/>
          </a:xfrm>
          <a:prstGeom prst="roundRect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FINANCIALS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841248"/>
            <a:ext cx="10789920" cy="7772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F0ECF6"/>
                </a:solidFill>
                <a:latin typeface="Aptos Display"/>
              </a:defRPr>
            </a:pPr>
            <a:r>
              <a:t>Financial Impact and ROI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3" y="1837943"/>
            <a:ext cx="3520440" cy="1828800"/>
          </a:xfrm>
          <a:prstGeom prst="roundRect">
            <a:avLst/>
          </a:prstGeom>
          <a:solidFill>
            <a:srgbClr val="C0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" y="1783080"/>
            <a:ext cx="35204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4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9536C"/>
                </a:solidFill>
                <a:latin typeface="Aptos"/>
              </a:defRPr>
            </a:pPr>
            <a:r>
              <a:t>Baseline Tier</a:t>
            </a:r>
          </a:p>
          <a:p>
            <a:pPr algn="ctr">
              <a:defRPr sz="2200" b="1">
                <a:solidFill>
                  <a:srgbClr val="E84A62"/>
                </a:solidFill>
                <a:latin typeface="Aptos Display"/>
              </a:defRPr>
            </a:pPr>
            <a:r>
              <a:t>$450k/yr @ 15k EPS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81144" y="1837943"/>
            <a:ext cx="3520440" cy="1828800"/>
          </a:xfrm>
          <a:prstGeom prst="roundRect">
            <a:avLst/>
          </a:prstGeom>
          <a:solidFill>
            <a:srgbClr val="C0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526280" y="1783080"/>
            <a:ext cx="35204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E7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9536C"/>
                </a:solidFill>
                <a:latin typeface="Aptos"/>
              </a:defRPr>
            </a:pPr>
            <a:r>
              <a:t>Post-filter Scenario</a:t>
            </a:r>
          </a:p>
          <a:p>
            <a:pPr algn="ctr">
              <a:defRPr sz="2200" b="1">
                <a:solidFill>
                  <a:srgbClr val="4E76B2"/>
                </a:solidFill>
                <a:latin typeface="Aptos Display"/>
              </a:defRPr>
            </a:pPr>
            <a:r>
              <a:t>~50% EPS reduction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30184" y="1837943"/>
            <a:ext cx="2880360" cy="1828800"/>
          </a:xfrm>
          <a:prstGeom prst="roundRect">
            <a:avLst/>
          </a:prstGeom>
          <a:solidFill>
            <a:srgbClr val="C0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75320" y="1783080"/>
            <a:ext cx="28803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9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9536C"/>
                </a:solidFill>
                <a:latin typeface="Aptos"/>
              </a:defRPr>
            </a:pPr>
            <a:r>
              <a:t>Savings Range</a:t>
            </a:r>
          </a:p>
          <a:p>
            <a:pPr algn="ctr">
              <a:defRPr sz="2200" b="1">
                <a:solidFill>
                  <a:srgbClr val="2F9267"/>
                </a:solidFill>
                <a:latin typeface="Aptos Display"/>
              </a:defRPr>
            </a:pPr>
            <a:r>
              <a:t>$180k-$360k/yr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3977639"/>
            <a:ext cx="10515600" cy="2011680"/>
          </a:xfrm>
          <a:prstGeom prst="rect">
            <a:avLst/>
          </a:prstGeom>
          <a:noFill/>
        </p:spPr>
        <p:txBody>
          <a:bodyPr wrap="square" lIns="76200" rIns="76200" tIns="38100" bIns="38100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F0ECF6"/>
                </a:solidFill>
                <a:latin typeface="Aptos"/>
              </a:defRPr>
            </a:pPr>
            <a:r>
              <a:t>Cost-tracking reference scenario estimates ~$226k annual savings.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F0ECF6"/>
                </a:solidFill>
                <a:latin typeface="Aptos"/>
              </a:defRPr>
            </a:pPr>
            <a:r>
              <a:t>Illustrative break-even point in the same scenario: ~96 days.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F0ECF6"/>
                </a:solidFill>
                <a:latin typeface="Aptos"/>
              </a:defRPr>
            </a:pPr>
            <a:r>
              <a:t>Modeled infrastructure cost in reference architecture: ~$60k/year.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F0ECF6"/>
                </a:solidFill>
                <a:latin typeface="Aptos"/>
              </a:defRPr>
            </a:pPr>
            <a:r>
              <a:t>ROI grows with sustained EPS reduction and controlled rollout execution.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16736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7510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33472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50207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08575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66943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25311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42047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00415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33888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92256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85062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633472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608575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266943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925311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-822960" y="5029200"/>
            <a:ext cx="2743200" cy="2743200"/>
          </a:xfrm>
          <a:prstGeom prst="ellipse">
            <a:avLst/>
          </a:prstGeom>
          <a:solidFill>
            <a:srgbClr val="EF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58400" y="-640080"/>
            <a:ext cx="2926080" cy="2926080"/>
          </a:xfrm>
          <a:prstGeom prst="ellipse">
            <a:avLst/>
          </a:prstGeom>
          <a:solidFill>
            <a:srgbClr val="FA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Triangle 34"/>
          <p:cNvSpPr/>
          <p:nvPr/>
        </p:nvSpPr>
        <p:spPr>
          <a:xfrm>
            <a:off x="8869680" y="5943600"/>
            <a:ext cx="3566160" cy="914400"/>
          </a:xfrm>
          <a:prstGeom prst="rtTriangle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320040"/>
            <a:ext cx="2331720" cy="457200"/>
          </a:xfrm>
          <a:prstGeom prst="roundRect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841248"/>
            <a:ext cx="10789920" cy="7772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222430"/>
                </a:solidFill>
                <a:latin typeface="Aptos Display"/>
              </a:defRPr>
            </a:pPr>
            <a:r>
              <a:t>Current Risk Snapshot and Mitigation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1737360"/>
            <a:ext cx="5303520" cy="4480560"/>
          </a:xfrm>
          <a:prstGeom prst="roundRect">
            <a:avLst/>
          </a:prstGeom>
          <a:solidFill>
            <a:srgbClr val="FFF2F0"/>
          </a:solidFill>
          <a:ln>
            <a:solidFill>
              <a:srgbClr val="EC9D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1965960"/>
            <a:ext cx="4892040" cy="4114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4A62"/>
                </a:solidFill>
                <a:latin typeface="Aptos"/>
              </a:defRPr>
            </a:pPr>
            <a:r>
              <a:t>Observed in February reruns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" y="2331720"/>
            <a:ext cx="4800600" cy="3611880"/>
          </a:xfrm>
          <a:prstGeom prst="rect">
            <a:avLst/>
          </a:prstGeom>
          <a:noFill/>
        </p:spPr>
        <p:txBody>
          <a:bodyPr wrap="square" lIns="76200" rIns="76200" tIns="38100" bIns="38100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222430"/>
                </a:solidFill>
                <a:latin typeface="Aptos"/>
              </a:defRPr>
            </a:pPr>
            <a:r>
              <a:t>Shadow validation showed critical recall at 60.0%.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222430"/>
                </a:solidFill>
                <a:latin typeface="Aptos"/>
              </a:defRPr>
            </a:pPr>
            <a:r>
              <a:t>Chaos stress test showed critical recall at 70.0%.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222430"/>
                </a:solidFill>
                <a:latin typeface="Aptos"/>
              </a:defRPr>
            </a:pPr>
            <a:r>
              <a:t>Pattern indicates potential artifact or configuration drift.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222430"/>
                </a:solidFill>
                <a:latin typeface="Aptos"/>
              </a:defRPr>
            </a:pPr>
            <a:r>
              <a:t>Recommendation: gate broad rollout until quality thresholds recover.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1737360"/>
            <a:ext cx="4983480" cy="4480560"/>
          </a:xfrm>
          <a:prstGeom prst="roundRect">
            <a:avLst/>
          </a:prstGeom>
          <a:solidFill>
            <a:srgbClr val="ECF8F0"/>
          </a:solidFill>
          <a:ln>
            <a:solidFill>
              <a:srgbClr val="99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1965960"/>
            <a:ext cx="4572000" cy="4114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F9267"/>
                </a:solidFill>
                <a:latin typeface="Aptos"/>
              </a:defRPr>
            </a:pPr>
            <a:r>
              <a:t>Mitigation gates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2331720"/>
            <a:ext cx="4526280" cy="3611880"/>
          </a:xfrm>
          <a:prstGeom prst="rect">
            <a:avLst/>
          </a:prstGeom>
          <a:noFill/>
        </p:spPr>
        <p:txBody>
          <a:bodyPr wrap="square" lIns="76200" rIns="76200" tIns="38100" bIns="38100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222430"/>
                </a:solidFill>
                <a:latin typeface="Aptos"/>
              </a:defRPr>
            </a:pPr>
            <a:r>
              <a:t>Pin known-good model + environment versions.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222430"/>
                </a:solidFill>
                <a:latin typeface="Aptos"/>
              </a:defRPr>
            </a:pPr>
            <a:r>
              <a:t>Require recall &gt;=99.5% and FN &lt;=5 per 1000.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222430"/>
                </a:solidFill>
                <a:latin typeface="Aptos"/>
              </a:defRPr>
            </a:pPr>
            <a:r>
              <a:t>Require stress recall &gt;=99.5% before promotion.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222430"/>
                </a:solidFill>
                <a:latin typeface="Aptos"/>
              </a:defRPr>
            </a:pPr>
            <a:r>
              <a:t>Automate benchmark evidence in CI release gate.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222430"/>
                </a:solidFill>
                <a:latin typeface="Aptos"/>
              </a:defRPr>
            </a:pPr>
            <a:r>
              <a:t>Provide weekly risk dashboard to leadership.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16736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7510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33472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50207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08575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66943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25311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42047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00415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33888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92256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850624" y="0"/>
            <a:ext cx="0" cy="685800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633472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608575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266943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925311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10160">
            <a:solidFill>
              <a:srgbClr val="E3D7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-822960" y="5029200"/>
            <a:ext cx="2743200" cy="2743200"/>
          </a:xfrm>
          <a:prstGeom prst="ellipse">
            <a:avLst/>
          </a:prstGeom>
          <a:solidFill>
            <a:srgbClr val="EF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58400" y="-640080"/>
            <a:ext cx="2926080" cy="2926080"/>
          </a:xfrm>
          <a:prstGeom prst="ellipse">
            <a:avLst/>
          </a:prstGeom>
          <a:solidFill>
            <a:srgbClr val="FA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Triangle 34"/>
          <p:cNvSpPr/>
          <p:nvPr/>
        </p:nvSpPr>
        <p:spPr>
          <a:xfrm>
            <a:off x="8869680" y="5943600"/>
            <a:ext cx="3566160" cy="914400"/>
          </a:xfrm>
          <a:prstGeom prst="rtTriangle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320040"/>
            <a:ext cx="2331720" cy="457200"/>
          </a:xfrm>
          <a:prstGeom prst="roundRect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841248"/>
            <a:ext cx="10789920" cy="7772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222430"/>
                </a:solidFill>
                <a:latin typeface="Aptos Display"/>
              </a:defRPr>
            </a:pPr>
            <a:r>
              <a:t>30-Day Execution Plan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43000" y="2880360"/>
            <a:ext cx="9784080" cy="0"/>
          </a:xfrm>
          <a:prstGeom prst="line">
            <a:avLst/>
          </a:prstGeom>
          <a:ln w="38100">
            <a:solidFill>
              <a:srgbClr val="E84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143000" y="2606040"/>
            <a:ext cx="530352" cy="530352"/>
          </a:xfrm>
          <a:prstGeom prst="ellipse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3246120"/>
            <a:ext cx="1828800" cy="36576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2430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3611880"/>
            <a:ext cx="2194560" cy="8686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536C"/>
                </a:solidFill>
                <a:latin typeface="Aptos"/>
              </a:defRPr>
            </a:pPr>
            <a:r>
              <a:t>Root-cause + baseline</a:t>
            </a:r>
          </a:p>
        </p:txBody>
      </p:sp>
      <p:sp>
        <p:nvSpPr>
          <p:cNvPr id="42" name="Oval 41"/>
          <p:cNvSpPr/>
          <p:nvPr/>
        </p:nvSpPr>
        <p:spPr>
          <a:xfrm>
            <a:off x="3657600" y="2606040"/>
            <a:ext cx="530352" cy="530352"/>
          </a:xfrm>
          <a:prstGeom prst="ellipse">
            <a:avLst/>
          </a:prstGeom>
          <a:solidFill>
            <a:srgbClr val="FA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9000" y="3246120"/>
            <a:ext cx="1828800" cy="36576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2430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3611880"/>
            <a:ext cx="2194560" cy="8686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536C"/>
                </a:solidFill>
                <a:latin typeface="Aptos"/>
              </a:defRPr>
            </a:pPr>
            <a:r>
              <a:t>Retrain + calibrate</a:t>
            </a:r>
          </a:p>
        </p:txBody>
      </p:sp>
      <p:sp>
        <p:nvSpPr>
          <p:cNvPr id="45" name="Oval 44"/>
          <p:cNvSpPr/>
          <p:nvPr/>
        </p:nvSpPr>
        <p:spPr>
          <a:xfrm>
            <a:off x="6172200" y="2606040"/>
            <a:ext cx="530352" cy="530352"/>
          </a:xfrm>
          <a:prstGeom prst="ellipse">
            <a:avLst/>
          </a:prstGeom>
          <a:solidFill>
            <a:srgbClr val="4E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0" y="3246120"/>
            <a:ext cx="1828800" cy="36576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2430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3611880"/>
            <a:ext cx="2194560" cy="8686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536C"/>
                </a:solidFill>
                <a:latin typeface="Aptos"/>
              </a:defRPr>
            </a:pPr>
            <a:r>
              <a:t>Shadow + chaos gates</a:t>
            </a:r>
          </a:p>
        </p:txBody>
      </p:sp>
      <p:sp>
        <p:nvSpPr>
          <p:cNvPr id="48" name="Oval 47"/>
          <p:cNvSpPr/>
          <p:nvPr/>
        </p:nvSpPr>
        <p:spPr>
          <a:xfrm>
            <a:off x="8686800" y="2606040"/>
            <a:ext cx="530352" cy="530352"/>
          </a:xfrm>
          <a:prstGeom prst="ellipse">
            <a:avLst/>
          </a:prstGeom>
          <a:solidFill>
            <a:srgbClr val="2F9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58200" y="3246120"/>
            <a:ext cx="1828800" cy="36576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2430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611880"/>
            <a:ext cx="2194560" cy="8686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536C"/>
                </a:solidFill>
                <a:latin typeface="Aptos"/>
              </a:defRPr>
            </a:pPr>
            <a:r>
              <a:t>5% pilot rollout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" y="4754880"/>
            <a:ext cx="10927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4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2430"/>
                </a:solidFill>
                <a:latin typeface="Aptos"/>
              </a:defRPr>
            </a:pPr>
            <a:r>
              <a:t>Decision request: approve controlled pilot under strict quality gates and weekly executive reporting.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16736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75104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33472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39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50207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608575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66943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25311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79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42047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00415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58784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17152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533888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92256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850624" y="0"/>
            <a:ext cx="0" cy="685800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633472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608575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266943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925311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583679"/>
            <a:ext cx="12191695" cy="0"/>
          </a:xfrm>
          <a:prstGeom prst="line">
            <a:avLst/>
          </a:prstGeom>
          <a:ln w="10160">
            <a:solidFill>
              <a:srgbClr val="5852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692640" y="-1097280"/>
            <a:ext cx="4389120" cy="4389120"/>
          </a:xfrm>
          <a:prstGeom prst="ellipse">
            <a:avLst/>
          </a:prstGeom>
          <a:solidFill>
            <a:srgbClr val="EF9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evron 33"/>
          <p:cNvSpPr/>
          <p:nvPr/>
        </p:nvSpPr>
        <p:spPr>
          <a:xfrm>
            <a:off x="-182880" y="5394960"/>
            <a:ext cx="3840480" cy="1554480"/>
          </a:xfrm>
          <a:prstGeom prst="chevron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94360" y="320040"/>
            <a:ext cx="2331720" cy="457200"/>
          </a:xfrm>
          <a:prstGeom prst="roundRect">
            <a:avLst/>
          </a:prstGeom>
          <a:solidFill>
            <a:srgbClr val="E8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841248"/>
            <a:ext cx="10789920" cy="7772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F0ECF6"/>
                </a:solidFill>
                <a:latin typeface="Aptos Display"/>
              </a:defRPr>
            </a:pPr>
            <a:r>
              <a:t>Evidence Sources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1783080"/>
            <a:ext cx="10927080" cy="4434840"/>
          </a:xfrm>
          <a:prstGeom prst="rect">
            <a:avLst/>
          </a:prstGeom>
          <a:noFill/>
        </p:spPr>
        <p:txBody>
          <a:bodyPr wrap="square" lIns="76200" rIns="76200" tIns="38100" bIns="38100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F0ECF6"/>
                </a:solidFill>
                <a:latin typeface="Aptos"/>
              </a:defRPr>
            </a:pPr>
            <a:r>
              <a:t>README.md (problem framing, design principles, target metrics)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F0ECF6"/>
                </a:solidFill>
                <a:latin typeface="Aptos"/>
              </a:defRPr>
            </a:pPr>
            <a:r>
              <a:t>reports/BENCHMARK_SUMMARY.md (January throughput/latency/quality evidence)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F0ECF6"/>
                </a:solidFill>
                <a:latin typeface="Aptos"/>
              </a:defRPr>
            </a:pPr>
            <a:r>
              <a:t>docs/tracking/COST_TRACKING.md (ROI model and break-even scenario)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F0ECF6"/>
                </a:solidFill>
                <a:latin typeface="Aptos"/>
              </a:defRPr>
            </a:pPr>
            <a:r>
              <a:t>docs/architecture/PRODUCTION_ARCHITECTURE.md (production controls and safeguards)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F0ECF6"/>
                </a:solidFill>
                <a:latin typeface="Aptos"/>
              </a:defRPr>
            </a:pPr>
            <a:r>
              <a:t>docs/assessment/ASSESSMENT_SCORECARD.md (test/readiness scorecard)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F0ECF6"/>
                </a:solidFill>
                <a:latin typeface="Aptos"/>
              </a:defRPr>
            </a:pPr>
            <a:r>
              <a:t>reports/shadow_validation/validation_20260218_075134.json (Feb regression signal)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F0ECF6"/>
                </a:solidFill>
                <a:latin typeface="Aptos"/>
              </a:defRPr>
            </a:pPr>
            <a:r>
              <a:t>reports/chaos_test/chaos_test_20260218_073006.json (stress recall regression signal)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6236208"/>
            <a:ext cx="10927080" cy="365760"/>
          </a:xfrm>
          <a:prstGeom prst="rect">
            <a:avLst/>
          </a:prstGeom>
          <a:noFill/>
        </p:spPr>
        <p:txBody>
          <a:bodyPr wrap="square" lIns="76200" rIns="76200" tIns="50800" bIns="5080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0B8D0"/>
                </a:solidFill>
                <a:latin typeface="Aptos"/>
              </a:defRPr>
            </a:pPr>
            <a:r>
              <a:t>Theme refreshed to a modern fictional-grid style (red/cream editorial layout).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